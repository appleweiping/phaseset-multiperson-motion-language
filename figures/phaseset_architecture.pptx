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544250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-node-3"/>
          <p:cNvSpPr/>
          <p:nvPr/>
        </p:nvSpPr>
        <p:spPr>
          <a:xfrm>
            <a:off x="234086" y="468173"/>
            <a:ext cx="14162227" cy="2984602"/>
          </a:xfrm>
          <a:prstGeom prst="roundRect">
            <a:avLst>
              <a:gd name="adj" fmla="val 8000"/>
            </a:avLst>
          </a:prstGeom>
          <a:solidFill>
            <a:srgbClr val="F8FAFD"/>
          </a:solidFill>
          <a:ln w="11704">
            <a:solidFill>
              <a:srgbClr val="779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-header-3"/>
          <p:cNvSpPr txBox="1"/>
          <p:nvPr/>
        </p:nvSpPr>
        <p:spPr>
          <a:xfrm>
            <a:off x="234086" y="468173"/>
            <a:ext cx="14162227" cy="210678"/>
          </a:xfrm>
          <a:prstGeom prst="rect">
            <a:avLst/>
          </a:prstGeom>
          <a:noFill/>
        </p:spPr>
        <p:txBody>
          <a:bodyPr wrap="square" lIns="17556" rIns="17556" tIns="5852" bIns="58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9" b="1">
                <a:solidFill>
                  <a:srgbClr val="000000"/>
                </a:solidFill>
                <a:latin typeface="Arial"/>
              </a:rPr>
              <a:t>Motion path</a:t>
            </a:r>
          </a:p>
        </p:txBody>
      </p:sp>
      <p:cxnSp>
        <p:nvCxnSpPr>
          <p:cNvPr id="4" name="drawio-container-separator-3"/>
          <p:cNvCxnSpPr/>
          <p:nvPr/>
        </p:nvCxnSpPr>
        <p:spPr>
          <a:xfrm>
            <a:off x="234086" y="678851"/>
            <a:ext cx="14162228" cy="0"/>
          </a:xfrm>
          <a:prstGeom prst="line">
            <a:avLst/>
          </a:prstGeom>
          <a:ln w="11704">
            <a:solidFill>
              <a:srgbClr val="779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rawio-node-4"/>
          <p:cNvSpPr/>
          <p:nvPr/>
        </p:nvSpPr>
        <p:spPr>
          <a:xfrm>
            <a:off x="234086" y="3628339"/>
            <a:ext cx="14162227" cy="1404518"/>
          </a:xfrm>
          <a:prstGeom prst="roundRect">
            <a:avLst>
              <a:gd name="adj" fmla="val 8000"/>
            </a:avLst>
          </a:prstGeom>
          <a:solidFill>
            <a:srgbClr val="FCFAFF"/>
          </a:solidFill>
          <a:ln w="11704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rawio-header-4"/>
          <p:cNvSpPr txBox="1"/>
          <p:nvPr/>
        </p:nvSpPr>
        <p:spPr>
          <a:xfrm>
            <a:off x="234086" y="3628339"/>
            <a:ext cx="14162227" cy="210678"/>
          </a:xfrm>
          <a:prstGeom prst="rect">
            <a:avLst/>
          </a:prstGeom>
          <a:noFill/>
        </p:spPr>
        <p:txBody>
          <a:bodyPr wrap="square" lIns="17556" rIns="17556" tIns="5852" bIns="58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9" b="1">
                <a:solidFill>
                  <a:srgbClr val="000000"/>
                </a:solidFill>
                <a:latin typeface="Arial"/>
              </a:rPr>
              <a:t>Language path and retrieval</a:t>
            </a:r>
          </a:p>
        </p:txBody>
      </p:sp>
      <p:cxnSp>
        <p:nvCxnSpPr>
          <p:cNvPr id="7" name="drawio-container-separator-4"/>
          <p:cNvCxnSpPr/>
          <p:nvPr/>
        </p:nvCxnSpPr>
        <p:spPr>
          <a:xfrm>
            <a:off x="234086" y="3839017"/>
            <a:ext cx="14162228" cy="0"/>
          </a:xfrm>
          <a:prstGeom prst="line">
            <a:avLst/>
          </a:prstGeom>
          <a:ln w="11704">
            <a:solidFill>
              <a:srgbClr val="96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rawio-edge-30-segment-0"/>
          <p:cNvCxnSpPr/>
          <p:nvPr/>
        </p:nvCxnSpPr>
        <p:spPr>
          <a:xfrm>
            <a:off x="1697126" y="1316736"/>
            <a:ext cx="351130" cy="0"/>
          </a:xfrm>
          <a:prstGeom prst="line">
            <a:avLst/>
          </a:prstGeom>
          <a:ln w="11704">
            <a:solidFill>
              <a:srgbClr val="5067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rawio-edge-31-segment-0"/>
          <p:cNvCxnSpPr/>
          <p:nvPr/>
        </p:nvCxnSpPr>
        <p:spPr>
          <a:xfrm>
            <a:off x="3277210" y="1316736"/>
            <a:ext cx="351129" cy="0"/>
          </a:xfrm>
          <a:prstGeom prst="line">
            <a:avLst/>
          </a:prstGeom>
          <a:ln w="11704">
            <a:solidFill>
              <a:srgbClr val="5067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drawio-edge-32-segment-0"/>
          <p:cNvCxnSpPr/>
          <p:nvPr/>
        </p:nvCxnSpPr>
        <p:spPr>
          <a:xfrm>
            <a:off x="4974336" y="1316736"/>
            <a:ext cx="351130" cy="0"/>
          </a:xfrm>
          <a:prstGeom prst="line">
            <a:avLst/>
          </a:prstGeom>
          <a:ln w="11704">
            <a:solidFill>
              <a:srgbClr val="5067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drawio-edge-33-segment-0"/>
          <p:cNvCxnSpPr/>
          <p:nvPr/>
        </p:nvCxnSpPr>
        <p:spPr>
          <a:xfrm>
            <a:off x="6788506" y="1316736"/>
            <a:ext cx="351129" cy="0"/>
          </a:xfrm>
          <a:prstGeom prst="line">
            <a:avLst/>
          </a:prstGeom>
          <a:ln w="11704">
            <a:solidFill>
              <a:srgbClr val="5067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drawio-edge-34-segment-0"/>
          <p:cNvCxnSpPr/>
          <p:nvPr/>
        </p:nvCxnSpPr>
        <p:spPr>
          <a:xfrm>
            <a:off x="8368589" y="1220175"/>
            <a:ext cx="175565" cy="0"/>
          </a:xfrm>
          <a:prstGeom prst="line">
            <a:avLst/>
          </a:prstGeom>
          <a:ln w="11704">
            <a:solidFill>
              <a:srgbClr val="506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drawio-edge-34-segment-1"/>
          <p:cNvCxnSpPr/>
          <p:nvPr/>
        </p:nvCxnSpPr>
        <p:spPr>
          <a:xfrm flipV="1">
            <a:off x="8544154" y="1053389"/>
            <a:ext cx="0" cy="166786"/>
          </a:xfrm>
          <a:prstGeom prst="line">
            <a:avLst/>
          </a:prstGeom>
          <a:ln w="11704">
            <a:solidFill>
              <a:srgbClr val="506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drawio-edge-34-segment-2"/>
          <p:cNvCxnSpPr/>
          <p:nvPr/>
        </p:nvCxnSpPr>
        <p:spPr>
          <a:xfrm>
            <a:off x="8544154" y="1053389"/>
            <a:ext cx="175564" cy="0"/>
          </a:xfrm>
          <a:prstGeom prst="line">
            <a:avLst/>
          </a:prstGeom>
          <a:ln w="11704">
            <a:solidFill>
              <a:srgbClr val="5067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drawio-edge-35-segment-0"/>
          <p:cNvCxnSpPr/>
          <p:nvPr/>
        </p:nvCxnSpPr>
        <p:spPr>
          <a:xfrm>
            <a:off x="8368589" y="1445484"/>
            <a:ext cx="175565" cy="0"/>
          </a:xfrm>
          <a:prstGeom prst="line">
            <a:avLst/>
          </a:prstGeom>
          <a:ln w="11704">
            <a:solidFill>
              <a:srgbClr val="506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rawio-edge-35-segment-1"/>
          <p:cNvCxnSpPr/>
          <p:nvPr/>
        </p:nvCxnSpPr>
        <p:spPr>
          <a:xfrm>
            <a:off x="8544154" y="1445484"/>
            <a:ext cx="0" cy="544250"/>
          </a:xfrm>
          <a:prstGeom prst="line">
            <a:avLst/>
          </a:prstGeom>
          <a:ln w="11704">
            <a:solidFill>
              <a:srgbClr val="506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drawio-edge-35-segment-2"/>
          <p:cNvCxnSpPr/>
          <p:nvPr/>
        </p:nvCxnSpPr>
        <p:spPr>
          <a:xfrm>
            <a:off x="8544154" y="1989734"/>
            <a:ext cx="175564" cy="0"/>
          </a:xfrm>
          <a:prstGeom prst="line">
            <a:avLst/>
          </a:prstGeom>
          <a:ln w="11704">
            <a:solidFill>
              <a:srgbClr val="5067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rawio-edge-36-segment-0"/>
          <p:cNvCxnSpPr/>
          <p:nvPr/>
        </p:nvCxnSpPr>
        <p:spPr>
          <a:xfrm>
            <a:off x="10065715" y="1053389"/>
            <a:ext cx="351130" cy="0"/>
          </a:xfrm>
          <a:prstGeom prst="line">
            <a:avLst/>
          </a:prstGeom>
          <a:ln w="11704">
            <a:solidFill>
              <a:srgbClr val="5067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rawio-edge-37-segment-0"/>
          <p:cNvCxnSpPr/>
          <p:nvPr/>
        </p:nvCxnSpPr>
        <p:spPr>
          <a:xfrm>
            <a:off x="10065715" y="1989734"/>
            <a:ext cx="351130" cy="0"/>
          </a:xfrm>
          <a:prstGeom prst="line">
            <a:avLst/>
          </a:prstGeom>
          <a:ln w="11704">
            <a:solidFill>
              <a:srgbClr val="5067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rawio-edge-38-segment-0"/>
          <p:cNvCxnSpPr/>
          <p:nvPr/>
        </p:nvCxnSpPr>
        <p:spPr>
          <a:xfrm>
            <a:off x="11704320" y="1053389"/>
            <a:ext cx="234086" cy="0"/>
          </a:xfrm>
          <a:prstGeom prst="line">
            <a:avLst/>
          </a:prstGeom>
          <a:ln w="11704">
            <a:solidFill>
              <a:srgbClr val="506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rawio-edge-38-segment-1"/>
          <p:cNvCxnSpPr/>
          <p:nvPr/>
        </p:nvCxnSpPr>
        <p:spPr>
          <a:xfrm>
            <a:off x="11938406" y="1053389"/>
            <a:ext cx="0" cy="251643"/>
          </a:xfrm>
          <a:prstGeom prst="line">
            <a:avLst/>
          </a:prstGeom>
          <a:ln w="11704">
            <a:solidFill>
              <a:srgbClr val="506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rawio-edge-38-segment-2"/>
          <p:cNvCxnSpPr/>
          <p:nvPr/>
        </p:nvCxnSpPr>
        <p:spPr>
          <a:xfrm>
            <a:off x="11938406" y="1305032"/>
            <a:ext cx="234087" cy="0"/>
          </a:xfrm>
          <a:prstGeom prst="line">
            <a:avLst/>
          </a:prstGeom>
          <a:ln w="11704">
            <a:solidFill>
              <a:srgbClr val="5067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rawio-edge-39-segment-0"/>
          <p:cNvCxnSpPr/>
          <p:nvPr/>
        </p:nvCxnSpPr>
        <p:spPr>
          <a:xfrm>
            <a:off x="11821363" y="1989734"/>
            <a:ext cx="175565" cy="0"/>
          </a:xfrm>
          <a:prstGeom prst="line">
            <a:avLst/>
          </a:prstGeom>
          <a:ln w="11704">
            <a:solidFill>
              <a:srgbClr val="506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drawio-edge-39-segment-1"/>
          <p:cNvCxnSpPr/>
          <p:nvPr/>
        </p:nvCxnSpPr>
        <p:spPr>
          <a:xfrm flipV="1">
            <a:off x="11996928" y="1594714"/>
            <a:ext cx="0" cy="395020"/>
          </a:xfrm>
          <a:prstGeom prst="line">
            <a:avLst/>
          </a:prstGeom>
          <a:ln w="11704">
            <a:solidFill>
              <a:srgbClr val="506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drawio-edge-39-segment-2"/>
          <p:cNvCxnSpPr/>
          <p:nvPr/>
        </p:nvCxnSpPr>
        <p:spPr>
          <a:xfrm>
            <a:off x="11996928" y="1594714"/>
            <a:ext cx="175565" cy="0"/>
          </a:xfrm>
          <a:prstGeom prst="line">
            <a:avLst/>
          </a:prstGeom>
          <a:ln w="11704">
            <a:solidFill>
              <a:srgbClr val="5067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drawio-edge-40-segment-0"/>
          <p:cNvCxnSpPr/>
          <p:nvPr/>
        </p:nvCxnSpPr>
        <p:spPr>
          <a:xfrm>
            <a:off x="12874752" y="1755648"/>
            <a:ext cx="0" cy="643738"/>
          </a:xfrm>
          <a:prstGeom prst="line">
            <a:avLst/>
          </a:prstGeom>
          <a:ln w="11704">
            <a:solidFill>
              <a:srgbClr val="5067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drawio-edge-55-segment-0"/>
          <p:cNvCxnSpPr/>
          <p:nvPr/>
        </p:nvCxnSpPr>
        <p:spPr>
          <a:xfrm>
            <a:off x="3277210" y="4359859"/>
            <a:ext cx="760780" cy="0"/>
          </a:xfrm>
          <a:prstGeom prst="line">
            <a:avLst/>
          </a:prstGeom>
          <a:ln w="11704">
            <a:solidFill>
              <a:srgbClr val="8064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drawio-edge-56-segment-0"/>
          <p:cNvCxnSpPr/>
          <p:nvPr/>
        </p:nvCxnSpPr>
        <p:spPr>
          <a:xfrm>
            <a:off x="5325466" y="4359859"/>
            <a:ext cx="760780" cy="0"/>
          </a:xfrm>
          <a:prstGeom prst="line">
            <a:avLst/>
          </a:prstGeom>
          <a:ln w="11704">
            <a:solidFill>
              <a:srgbClr val="8064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drawio-edge-57-segment-0"/>
          <p:cNvCxnSpPr/>
          <p:nvPr/>
        </p:nvCxnSpPr>
        <p:spPr>
          <a:xfrm>
            <a:off x="7490765" y="4359859"/>
            <a:ext cx="760781" cy="0"/>
          </a:xfrm>
          <a:prstGeom prst="line">
            <a:avLst/>
          </a:prstGeom>
          <a:ln w="11704">
            <a:solidFill>
              <a:srgbClr val="8064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drawio-edge-58-segment-0"/>
          <p:cNvCxnSpPr/>
          <p:nvPr/>
        </p:nvCxnSpPr>
        <p:spPr>
          <a:xfrm>
            <a:off x="9597542" y="4359859"/>
            <a:ext cx="731520" cy="0"/>
          </a:xfrm>
          <a:prstGeom prst="line">
            <a:avLst/>
          </a:prstGeom>
          <a:ln w="11704">
            <a:solidFill>
              <a:srgbClr val="806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drawio-edge-58-segment-1"/>
          <p:cNvCxnSpPr/>
          <p:nvPr/>
        </p:nvCxnSpPr>
        <p:spPr>
          <a:xfrm>
            <a:off x="10329062" y="4359859"/>
            <a:ext cx="0" cy="96561"/>
          </a:xfrm>
          <a:prstGeom prst="line">
            <a:avLst/>
          </a:prstGeom>
          <a:ln w="11704">
            <a:solidFill>
              <a:srgbClr val="806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drawio-edge-58-segment-2"/>
          <p:cNvCxnSpPr/>
          <p:nvPr/>
        </p:nvCxnSpPr>
        <p:spPr>
          <a:xfrm>
            <a:off x="10329062" y="4456420"/>
            <a:ext cx="731520" cy="0"/>
          </a:xfrm>
          <a:prstGeom prst="line">
            <a:avLst/>
          </a:prstGeom>
          <a:ln w="11704">
            <a:solidFill>
              <a:srgbClr val="8064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drawio-edge-59-segment-0"/>
          <p:cNvCxnSpPr/>
          <p:nvPr/>
        </p:nvCxnSpPr>
        <p:spPr>
          <a:xfrm>
            <a:off x="13577011" y="2691994"/>
            <a:ext cx="292608" cy="731520"/>
          </a:xfrm>
          <a:prstGeom prst="line">
            <a:avLst/>
          </a:prstGeom>
          <a:ln w="11704">
            <a:solidFill>
              <a:srgbClr val="4F7A5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drawio-edge-59-segment-1"/>
          <p:cNvCxnSpPr/>
          <p:nvPr/>
        </p:nvCxnSpPr>
        <p:spPr>
          <a:xfrm>
            <a:off x="13869619" y="3423514"/>
            <a:ext cx="0" cy="497433"/>
          </a:xfrm>
          <a:prstGeom prst="line">
            <a:avLst/>
          </a:prstGeom>
          <a:ln w="11704">
            <a:solidFill>
              <a:srgbClr val="4F7A5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drawio-edge-59-segment-2"/>
          <p:cNvCxnSpPr/>
          <p:nvPr/>
        </p:nvCxnSpPr>
        <p:spPr>
          <a:xfrm flipH="1">
            <a:off x="11996928" y="3920947"/>
            <a:ext cx="1872691" cy="0"/>
          </a:xfrm>
          <a:prstGeom prst="line">
            <a:avLst/>
          </a:prstGeom>
          <a:ln w="11704">
            <a:solidFill>
              <a:srgbClr val="4F7A5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drawio-edge-59-segment-3"/>
          <p:cNvCxnSpPr/>
          <p:nvPr/>
        </p:nvCxnSpPr>
        <p:spPr>
          <a:xfrm>
            <a:off x="11996928" y="3920947"/>
            <a:ext cx="0" cy="117043"/>
          </a:xfrm>
          <a:prstGeom prst="line">
            <a:avLst/>
          </a:prstGeom>
          <a:ln w="11704">
            <a:solidFill>
              <a:srgbClr val="4F7A5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rawio-edge-label-59"/>
          <p:cNvSpPr txBox="1"/>
          <p:nvPr/>
        </p:nvSpPr>
        <p:spPr>
          <a:xfrm>
            <a:off x="13196621" y="3602004"/>
            <a:ext cx="1345997" cy="140452"/>
          </a:xfrm>
          <a:prstGeom prst="rect">
            <a:avLst/>
          </a:prstGeom>
          <a:solidFill>
            <a:srgbClr val="FFFFFF"/>
          </a:solidFill>
        </p:spPr>
        <p:txBody>
          <a:bodyPr wrap="square" lIns="17556" rIns="17556" tIns="5852" bIns="58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5" b="0">
                <a:solidFill>
                  <a:srgbClr val="000000"/>
                </a:solidFill>
                <a:latin typeface="Arial"/>
              </a:rPr>
              <a:t>motion bands</a:t>
            </a:r>
          </a:p>
        </p:txBody>
      </p:sp>
      <p:cxnSp>
        <p:nvCxnSpPr>
          <p:cNvPr id="38" name="drawio-edge-66-segment-0"/>
          <p:cNvCxnSpPr/>
          <p:nvPr/>
        </p:nvCxnSpPr>
        <p:spPr>
          <a:xfrm>
            <a:off x="1082650" y="1638605"/>
            <a:ext cx="0" cy="877824"/>
          </a:xfrm>
          <a:prstGeom prst="line">
            <a:avLst/>
          </a:prstGeom>
          <a:ln w="11704">
            <a:solidFill>
              <a:srgbClr val="806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drawio-edge-66-segment-1"/>
          <p:cNvCxnSpPr/>
          <p:nvPr/>
        </p:nvCxnSpPr>
        <p:spPr>
          <a:xfrm>
            <a:off x="1082650" y="2516429"/>
            <a:ext cx="965606" cy="0"/>
          </a:xfrm>
          <a:prstGeom prst="line">
            <a:avLst/>
          </a:prstGeom>
          <a:ln w="11704">
            <a:solidFill>
              <a:srgbClr val="8064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drawio-edge-67-segment-0"/>
          <p:cNvCxnSpPr/>
          <p:nvPr/>
        </p:nvCxnSpPr>
        <p:spPr>
          <a:xfrm>
            <a:off x="3511296" y="2809037"/>
            <a:ext cx="0" cy="643737"/>
          </a:xfrm>
          <a:prstGeom prst="line">
            <a:avLst/>
          </a:prstGeom>
          <a:ln w="11704">
            <a:solidFill>
              <a:srgbClr val="8064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drawio-edge-67-segment-1"/>
          <p:cNvCxnSpPr/>
          <p:nvPr/>
        </p:nvCxnSpPr>
        <p:spPr>
          <a:xfrm>
            <a:off x="3511296" y="3452774"/>
            <a:ext cx="7315200" cy="0"/>
          </a:xfrm>
          <a:prstGeom prst="line">
            <a:avLst/>
          </a:prstGeom>
          <a:ln w="11704">
            <a:solidFill>
              <a:srgbClr val="8064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drawio-edge-67-segment-2"/>
          <p:cNvCxnSpPr/>
          <p:nvPr/>
        </p:nvCxnSpPr>
        <p:spPr>
          <a:xfrm>
            <a:off x="10826496" y="3452774"/>
            <a:ext cx="0" cy="746151"/>
          </a:xfrm>
          <a:prstGeom prst="line">
            <a:avLst/>
          </a:prstGeom>
          <a:ln w="11704">
            <a:solidFill>
              <a:srgbClr val="8064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drawio-edge-67-segment-3"/>
          <p:cNvCxnSpPr/>
          <p:nvPr/>
        </p:nvCxnSpPr>
        <p:spPr>
          <a:xfrm>
            <a:off x="10826496" y="4198925"/>
            <a:ext cx="234086" cy="0"/>
          </a:xfrm>
          <a:prstGeom prst="line">
            <a:avLst/>
          </a:prstGeom>
          <a:ln w="11704">
            <a:solidFill>
              <a:srgbClr val="80649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rawio-edge-label-67"/>
          <p:cNvSpPr txBox="1"/>
          <p:nvPr/>
        </p:nvSpPr>
        <p:spPr>
          <a:xfrm>
            <a:off x="6495898" y="3382548"/>
            <a:ext cx="1345997" cy="140452"/>
          </a:xfrm>
          <a:prstGeom prst="rect">
            <a:avLst/>
          </a:prstGeom>
          <a:solidFill>
            <a:srgbClr val="FFFFFF"/>
          </a:solidFill>
        </p:spPr>
        <p:txBody>
          <a:bodyPr wrap="square" lIns="17556" rIns="17556" tIns="5852" bIns="58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>
                <a:solidFill>
                  <a:srgbClr val="000000"/>
                </a:solidFill>
                <a:latin typeface="Arial"/>
              </a:rPr>
              <a:t>frozen group embedding</a:t>
            </a:r>
          </a:p>
        </p:txBody>
      </p:sp>
      <p:cxnSp>
        <p:nvCxnSpPr>
          <p:cNvPr id="45" name="drawio-edge-68-segment-0"/>
          <p:cNvCxnSpPr/>
          <p:nvPr/>
        </p:nvCxnSpPr>
        <p:spPr>
          <a:xfrm>
            <a:off x="4681728" y="4623206"/>
            <a:ext cx="0" cy="263348"/>
          </a:xfrm>
          <a:prstGeom prst="line">
            <a:avLst/>
          </a:prstGeom>
          <a:ln w="11704">
            <a:solidFill>
              <a:srgbClr val="8064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drawio-edge-68-segment-1"/>
          <p:cNvCxnSpPr/>
          <p:nvPr/>
        </p:nvCxnSpPr>
        <p:spPr>
          <a:xfrm>
            <a:off x="4681728" y="4886554"/>
            <a:ext cx="6203290" cy="0"/>
          </a:xfrm>
          <a:prstGeom prst="line">
            <a:avLst/>
          </a:prstGeom>
          <a:ln w="11704">
            <a:solidFill>
              <a:srgbClr val="8064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drawio-edge-68-segment-2"/>
          <p:cNvCxnSpPr/>
          <p:nvPr/>
        </p:nvCxnSpPr>
        <p:spPr>
          <a:xfrm flipV="1">
            <a:off x="10885018" y="4585167"/>
            <a:ext cx="0" cy="301387"/>
          </a:xfrm>
          <a:prstGeom prst="line">
            <a:avLst/>
          </a:prstGeom>
          <a:ln w="11704">
            <a:solidFill>
              <a:srgbClr val="8064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drawio-edge-68-segment-3"/>
          <p:cNvCxnSpPr/>
          <p:nvPr/>
        </p:nvCxnSpPr>
        <p:spPr>
          <a:xfrm>
            <a:off x="10885018" y="4585167"/>
            <a:ext cx="175564" cy="0"/>
          </a:xfrm>
          <a:prstGeom prst="line">
            <a:avLst/>
          </a:prstGeom>
          <a:ln w="11704">
            <a:solidFill>
              <a:srgbClr val="80649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drawio-edge-label-68"/>
          <p:cNvSpPr txBox="1"/>
          <p:nvPr/>
        </p:nvSpPr>
        <p:spPr>
          <a:xfrm>
            <a:off x="7110374" y="4816328"/>
            <a:ext cx="1345997" cy="140452"/>
          </a:xfrm>
          <a:prstGeom prst="rect">
            <a:avLst/>
          </a:prstGeom>
          <a:solidFill>
            <a:srgbClr val="FFFFFF"/>
          </a:solidFill>
        </p:spPr>
        <p:txBody>
          <a:bodyPr wrap="square" lIns="17556" rIns="17556" tIns="5852" bIns="58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>
                <a:solidFill>
                  <a:srgbClr val="000000"/>
                </a:solidFill>
                <a:latin typeface="Arial"/>
              </a:rPr>
              <a:t>global text embedding</a:t>
            </a:r>
          </a:p>
        </p:txBody>
      </p:sp>
      <p:sp>
        <p:nvSpPr>
          <p:cNvPr id="50" name="drawio-node-2"/>
          <p:cNvSpPr txBox="1"/>
          <p:nvPr/>
        </p:nvSpPr>
        <p:spPr>
          <a:xfrm>
            <a:off x="2926080" y="117043"/>
            <a:ext cx="8778240" cy="234086"/>
          </a:xfrm>
          <a:prstGeom prst="rect">
            <a:avLst/>
          </a:prstGeom>
          <a:noFill/>
        </p:spPr>
        <p:txBody>
          <a:bodyPr wrap="square" lIns="17556" rIns="17556" tIns="5852" bIns="58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0" b="1">
                <a:solidFill>
                  <a:srgbClr val="17233C"/>
                </a:solidFill>
                <a:latin typeface="Arial"/>
              </a:rPr>
              <a:t>PhaseSet: streamed permutation-invariant group periodic tokens</a:t>
            </a:r>
          </a:p>
        </p:txBody>
      </p:sp>
      <p:sp>
        <p:nvSpPr>
          <p:cNvPr id="51" name="drawio-node-10"/>
          <p:cNvSpPr/>
          <p:nvPr/>
        </p:nvSpPr>
        <p:spPr>
          <a:xfrm>
            <a:off x="468173" y="994867"/>
            <a:ext cx="1228954" cy="643738"/>
          </a:xfrm>
          <a:prstGeom prst="roundRect">
            <a:avLst>
              <a:gd name="adj" fmla="val 8000"/>
            </a:avLst>
          </a:prstGeom>
          <a:solidFill>
            <a:srgbClr val="D5E8D4"/>
          </a:solidFill>
          <a:ln w="11704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1">
                <a:solidFill>
                  <a:srgbClr val="000000"/>
                </a:solidFill>
                <a:latin typeface="Arial"/>
              </a:rPr>
              <a:t>Group skeletons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1">
                <a:solidFill>
                  <a:srgbClr val="000000"/>
                </a:solidFill>
                <a:latin typeface="Arial"/>
              </a:rPr>
              <a:t>(B,K,T,22,3)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1">
                <a:solidFill>
                  <a:srgbClr val="000000"/>
                </a:solidFill>
                <a:latin typeface="Arial"/>
              </a:rPr>
              <a:t>dynamic actor mask</a:t>
            </a:r>
          </a:p>
        </p:txBody>
      </p:sp>
      <p:sp>
        <p:nvSpPr>
          <p:cNvPr id="52" name="drawio-node-11"/>
          <p:cNvSpPr/>
          <p:nvPr/>
        </p:nvSpPr>
        <p:spPr>
          <a:xfrm>
            <a:off x="2048256" y="994867"/>
            <a:ext cx="1228954" cy="643738"/>
          </a:xfrm>
          <a:prstGeom prst="roundRect">
            <a:avLst>
              <a:gd name="adj" fmla="val 8000"/>
            </a:avLst>
          </a:prstGeom>
          <a:solidFill>
            <a:srgbClr val="DAE8FC"/>
          </a:solidFill>
          <a:ln w="11704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1">
                <a:solidFill>
                  <a:srgbClr val="000000"/>
                </a:solidFill>
                <a:latin typeface="Arial"/>
              </a:rPr>
              <a:t>Shared body-motion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1">
                <a:solidFill>
                  <a:srgbClr val="000000"/>
                </a:solidFill>
                <a:latin typeface="Arial"/>
              </a:rPr>
              <a:t>activity extraction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1">
                <a:solidFill>
                  <a:srgbClr val="000000"/>
                </a:solidFill>
                <a:latin typeface="Arial"/>
              </a:rPr>
              <a:t>fixed, mask-aware</a:t>
            </a:r>
          </a:p>
        </p:txBody>
      </p:sp>
      <p:sp>
        <p:nvSpPr>
          <p:cNvPr id="53" name="drawio-node-12"/>
          <p:cNvSpPr/>
          <p:nvPr/>
        </p:nvSpPr>
        <p:spPr>
          <a:xfrm>
            <a:off x="3628339" y="994867"/>
            <a:ext cx="1345997" cy="643738"/>
          </a:xfrm>
          <a:prstGeom prst="roundRect">
            <a:avLst>
              <a:gd name="adj" fmla="val 8000"/>
            </a:avLst>
          </a:prstGeom>
          <a:solidFill>
            <a:srgbClr val="DAE8FC"/>
          </a:solidFill>
          <a:ln w="11704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1">
                <a:solidFill>
                  <a:srgbClr val="000000"/>
                </a:solidFill>
                <a:latin typeface="Arial"/>
              </a:rPr>
              <a:t>Six fixed Morlet bands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1">
                <a:solidFill>
                  <a:srgbClr val="000000"/>
                </a:solidFill>
                <a:latin typeface="Arial"/>
              </a:rPr>
              <a:t>compute each actor once</a:t>
            </a:r>
          </a:p>
        </p:txBody>
      </p:sp>
      <p:sp>
        <p:nvSpPr>
          <p:cNvPr id="54" name="drawio-node-13"/>
          <p:cNvSpPr/>
          <p:nvPr/>
        </p:nvSpPr>
        <p:spPr>
          <a:xfrm>
            <a:off x="5325466" y="994867"/>
            <a:ext cx="1463040" cy="643738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11704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1">
                <a:solidFill>
                  <a:srgbClr val="000000"/>
                </a:solidFill>
                <a:latin typeface="Arial"/>
              </a:rPr>
              <a:t>Stream all unordered pairs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1">
                <a:solidFill>
                  <a:srgbClr val="000000"/>
                </a:solidFill>
                <a:latin typeface="Arial"/>
              </a:rPr>
              <a:t>canonical 64-edge blocks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1">
                <a:solidFill>
                  <a:srgbClr val="000000"/>
                </a:solidFill>
                <a:latin typeface="Arial"/>
              </a:rPr>
              <a:t>no dense K×K tensor</a:t>
            </a:r>
          </a:p>
        </p:txBody>
      </p:sp>
      <p:sp>
        <p:nvSpPr>
          <p:cNvPr id="55" name="drawio-node-14"/>
          <p:cNvSpPr/>
          <p:nvPr/>
        </p:nvSpPr>
        <p:spPr>
          <a:xfrm>
            <a:off x="7139635" y="994867"/>
            <a:ext cx="1228954" cy="643738"/>
          </a:xfrm>
          <a:prstGeom prst="roundRect">
            <a:avLst>
              <a:gd name="adj" fmla="val 8000"/>
            </a:avLst>
          </a:prstGeom>
          <a:solidFill>
            <a:srgbClr val="DAE8FC"/>
          </a:solidFill>
          <a:ln w="11704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0">
                <a:solidFill>
                  <a:srgbClr val="000000"/>
                </a:solidFill>
                <a:latin typeface="Arial"/>
              </a:rPr>
              <a:t>Directed 13D relations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0">
                <a:solidFill>
                  <a:srgbClr val="000000"/>
                </a:solidFill>
                <a:latin typeface="Arial"/>
              </a:rPr>
              <a:t>u</a:t>
            </a:r>
            <a:r>
              <a:rPr sz="518" b="0" baseline="-25000">
                <a:solidFill>
                  <a:srgbClr val="000000"/>
                </a:solidFill>
                <a:latin typeface="Arial"/>
              </a:rPr>
              <a:t>ij</a:t>
            </a:r>
            <a:r>
              <a:rPr sz="691" b="0">
                <a:solidFill>
                  <a:srgbClr val="000000"/>
                </a:solidFill>
                <a:latin typeface="Arial"/>
              </a:rPr>
              <a:t>, u</a:t>
            </a:r>
            <a:r>
              <a:rPr sz="518" b="0" baseline="-25000">
                <a:solidFill>
                  <a:srgbClr val="000000"/>
                </a:solidFill>
                <a:latin typeface="Arial"/>
              </a:rPr>
              <a:t>ji</a:t>
            </a:r>
          </a:p>
        </p:txBody>
      </p:sp>
      <p:sp>
        <p:nvSpPr>
          <p:cNvPr id="56" name="drawio-node-15"/>
          <p:cNvSpPr/>
          <p:nvPr/>
        </p:nvSpPr>
        <p:spPr>
          <a:xfrm>
            <a:off x="8719718" y="760781"/>
            <a:ext cx="1345997" cy="585216"/>
          </a:xfrm>
          <a:prstGeom prst="roundRect">
            <a:avLst>
              <a:gd name="adj" fmla="val 8000"/>
            </a:avLst>
          </a:prstGeom>
          <a:solidFill>
            <a:srgbClr val="FFE6CC"/>
          </a:solidFill>
          <a:ln w="11704">
            <a:solidFill>
              <a:srgbClr val="D79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1">
                <a:solidFill>
                  <a:srgbClr val="000000"/>
                </a:solidFill>
                <a:latin typeface="Arial"/>
              </a:rPr>
              <a:t>Symmetric PairMLP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1">
                <a:solidFill>
                  <a:srgbClr val="000000"/>
                </a:solidFill>
                <a:latin typeface="Arial"/>
              </a:rPr>
              <a:t>sum |diff| product</a:t>
            </a:r>
          </a:p>
        </p:txBody>
      </p:sp>
      <p:sp>
        <p:nvSpPr>
          <p:cNvPr id="57" name="drawio-node-16"/>
          <p:cNvSpPr/>
          <p:nvPr/>
        </p:nvSpPr>
        <p:spPr>
          <a:xfrm>
            <a:off x="8719718" y="1697126"/>
            <a:ext cx="1345997" cy="585216"/>
          </a:xfrm>
          <a:prstGeom prst="roundRect">
            <a:avLst>
              <a:gd name="adj" fmla="val 8000"/>
            </a:avLst>
          </a:prstGeom>
          <a:solidFill>
            <a:srgbClr val="E1D5E7"/>
          </a:solidFill>
          <a:ln w="11704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1">
                <a:solidFill>
                  <a:srgbClr val="000000"/>
                </a:solidFill>
                <a:latin typeface="Arial"/>
              </a:rPr>
              <a:t>Incident moments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1">
                <a:solidFill>
                  <a:srgbClr val="000000"/>
                </a:solidFill>
                <a:latin typeface="Arial"/>
              </a:rPr>
              <a:t>Δmean, M2, coverage, missing</a:t>
            </a:r>
          </a:p>
        </p:txBody>
      </p:sp>
      <p:sp>
        <p:nvSpPr>
          <p:cNvPr id="58" name="drawio-node-17"/>
          <p:cNvSpPr/>
          <p:nvPr/>
        </p:nvSpPr>
        <p:spPr>
          <a:xfrm>
            <a:off x="10416845" y="760781"/>
            <a:ext cx="1287475" cy="585216"/>
          </a:xfrm>
          <a:prstGeom prst="roundRect">
            <a:avLst>
              <a:gd name="adj" fmla="val 8000"/>
            </a:avLst>
          </a:prstGeom>
          <a:solidFill>
            <a:srgbClr val="FFE6CC"/>
          </a:solidFill>
          <a:ln w="11704">
            <a:solidFill>
              <a:srgbClr val="D79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0">
                <a:solidFill>
                  <a:srgbClr val="000000"/>
                </a:solidFill>
                <a:latin typeface="Arial"/>
              </a:rPr>
              <a:t>Pair component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0">
                <a:solidFill>
                  <a:srgbClr val="000000"/>
                </a:solidFill>
                <a:latin typeface="Arial"/>
              </a:rPr>
              <a:t>canonical masked mean</a:t>
            </a:r>
          </a:p>
        </p:txBody>
      </p:sp>
      <p:sp>
        <p:nvSpPr>
          <p:cNvPr id="59" name="drawio-node-18"/>
          <p:cNvSpPr/>
          <p:nvPr/>
        </p:nvSpPr>
        <p:spPr>
          <a:xfrm>
            <a:off x="10416845" y="1697126"/>
            <a:ext cx="1404518" cy="585216"/>
          </a:xfrm>
          <a:prstGeom prst="roundRect">
            <a:avLst>
              <a:gd name="adj" fmla="val 8000"/>
            </a:avLst>
          </a:prstGeom>
          <a:solidFill>
            <a:srgbClr val="F8CECC"/>
          </a:solidFill>
          <a:ln w="11704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0">
                <a:solidFill>
                  <a:srgbClr val="000000"/>
                </a:solidFill>
                <a:latin typeface="Arial"/>
              </a:rPr>
              <a:t>NodeMLP + hard 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0">
                <a:solidFill>
                  <a:srgbClr val="000000"/>
                </a:solidFill>
                <a:latin typeface="Arial"/>
              </a:rPr>
              <a:t>K=2: exact +0 and zero grad</a:t>
            </a:r>
          </a:p>
        </p:txBody>
      </p:sp>
      <p:sp>
        <p:nvSpPr>
          <p:cNvPr id="60" name="drawio-node-19"/>
          <p:cNvSpPr/>
          <p:nvPr/>
        </p:nvSpPr>
        <p:spPr>
          <a:xfrm>
            <a:off x="12172493" y="1111910"/>
            <a:ext cx="1404518" cy="643738"/>
          </a:xfrm>
          <a:prstGeom prst="roundRect">
            <a:avLst>
              <a:gd name="adj" fmla="val 8000"/>
            </a:avLst>
          </a:prstGeom>
          <a:solidFill>
            <a:srgbClr val="FFE6CC"/>
          </a:solidFill>
          <a:ln w="11704">
            <a:solidFill>
              <a:srgbClr val="D79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1">
                <a:solidFill>
                  <a:srgbClr val="000000"/>
                </a:solidFill>
                <a:latin typeface="Arial"/>
              </a:rPr>
              <a:t>CommonPostprocess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1">
                <a:solidFill>
                  <a:srgbClr val="000000"/>
                </a:solidFill>
                <a:latin typeface="Arial"/>
              </a:rPr>
              <a:t>pair + tanh(λ) · topology</a:t>
            </a:r>
          </a:p>
        </p:txBody>
      </p:sp>
      <p:sp>
        <p:nvSpPr>
          <p:cNvPr id="61" name="drawio-node-20"/>
          <p:cNvSpPr/>
          <p:nvPr/>
        </p:nvSpPr>
        <p:spPr>
          <a:xfrm>
            <a:off x="12172493" y="2399386"/>
            <a:ext cx="1404518" cy="585216"/>
          </a:xfrm>
          <a:prstGeom prst="roundRect">
            <a:avLst>
              <a:gd name="adj" fmla="val 8000"/>
            </a:avLst>
          </a:prstGeom>
          <a:solidFill>
            <a:srgbClr val="D5E8D4"/>
          </a:solidFill>
          <a:ln w="17556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>
                <a:solidFill>
                  <a:srgbClr val="000000"/>
                </a:solidFill>
                <a:latin typeface="Arial"/>
              </a:rPr>
              <a:t>Six group tokens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>
                <a:solidFill>
                  <a:srgbClr val="000000"/>
                </a:solidFill>
                <a:latin typeface="Arial"/>
              </a:rPr>
              <a:t>(B,6,512)</a:t>
            </a:r>
          </a:p>
        </p:txBody>
      </p:sp>
      <p:sp>
        <p:nvSpPr>
          <p:cNvPr id="62" name="drawio-node-21"/>
          <p:cNvSpPr/>
          <p:nvPr/>
        </p:nvSpPr>
        <p:spPr>
          <a:xfrm>
            <a:off x="5325466" y="2223821"/>
            <a:ext cx="3043123" cy="58521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5852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5" b="0">
                <a:solidFill>
                  <a:srgbClr val="000000"/>
                </a:solidFill>
                <a:latin typeface="Arial"/>
              </a:rPr>
              <a:t>Permutation invariant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5" b="0">
                <a:solidFill>
                  <a:srgbClr val="000000"/>
                </a:solidFill>
                <a:latin typeface="Arial"/>
              </a:rPr>
              <a:t>O(K²) streamed edges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5" b="0">
                <a:solidFill>
                  <a:srgbClr val="000000"/>
                </a:solidFill>
                <a:latin typeface="Arial"/>
              </a:rPr>
              <a:t>RESOURCE_LIMIT, never sampling</a:t>
            </a:r>
          </a:p>
        </p:txBody>
      </p:sp>
      <p:sp>
        <p:nvSpPr>
          <p:cNvPr id="63" name="drawio-node-50"/>
          <p:cNvSpPr/>
          <p:nvPr/>
        </p:nvSpPr>
        <p:spPr>
          <a:xfrm>
            <a:off x="1989734" y="4096512"/>
            <a:ext cx="1287475" cy="526694"/>
          </a:xfrm>
          <a:prstGeom prst="roundRect">
            <a:avLst>
              <a:gd name="adj" fmla="val 8000"/>
            </a:avLst>
          </a:prstGeom>
          <a:solidFill>
            <a:srgbClr val="D5E8D4"/>
          </a:solidFill>
          <a:ln w="11704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>
                <a:solidFill>
                  <a:srgbClr val="000000"/>
                </a:solidFill>
                <a:latin typeface="Arial"/>
              </a:rPr>
              <a:t>Human group text</a:t>
            </a:r>
          </a:p>
        </p:txBody>
      </p:sp>
      <p:sp>
        <p:nvSpPr>
          <p:cNvPr id="64" name="drawio-node-51"/>
          <p:cNvSpPr/>
          <p:nvPr/>
        </p:nvSpPr>
        <p:spPr>
          <a:xfrm>
            <a:off x="4037990" y="4096512"/>
            <a:ext cx="1287475" cy="526694"/>
          </a:xfrm>
          <a:prstGeom prst="roundRect">
            <a:avLst>
              <a:gd name="adj" fmla="val 8000"/>
            </a:avLst>
          </a:prstGeom>
          <a:solidFill>
            <a:srgbClr val="E1D5E7"/>
          </a:solidFill>
          <a:ln w="11704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0">
                <a:solidFill>
                  <a:srgbClr val="000000"/>
                </a:solidFill>
                <a:latin typeface="Arial"/>
              </a:rPr>
              <a:t>Frozen CLIP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0">
                <a:solidFill>
                  <a:srgbClr val="000000"/>
                </a:solidFill>
                <a:latin typeface="Arial"/>
              </a:rPr>
              <a:t>text tower</a:t>
            </a:r>
          </a:p>
        </p:txBody>
      </p:sp>
      <p:sp>
        <p:nvSpPr>
          <p:cNvPr id="65" name="drawio-node-52"/>
          <p:cNvSpPr/>
          <p:nvPr/>
        </p:nvSpPr>
        <p:spPr>
          <a:xfrm>
            <a:off x="6086246" y="4096512"/>
            <a:ext cx="1404518" cy="526694"/>
          </a:xfrm>
          <a:prstGeom prst="roundRect">
            <a:avLst>
              <a:gd name="adj" fmla="val 8000"/>
            </a:avLst>
          </a:prstGeom>
          <a:solidFill>
            <a:srgbClr val="FFE6CC"/>
          </a:solidFill>
          <a:ln w="11704">
            <a:solidFill>
              <a:srgbClr val="D79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0">
                <a:solidFill>
                  <a:srgbClr val="000000"/>
                </a:solidFill>
                <a:latin typeface="Arial"/>
              </a:rPr>
              <a:t>Shared TextBandMLP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0">
                <a:solidFill>
                  <a:srgbClr val="000000"/>
                </a:solidFill>
                <a:latin typeface="Arial"/>
              </a:rPr>
              <a:t>+ learned band ID</a:t>
            </a:r>
          </a:p>
        </p:txBody>
      </p:sp>
      <p:sp>
        <p:nvSpPr>
          <p:cNvPr id="66" name="drawio-node-53"/>
          <p:cNvSpPr/>
          <p:nvPr/>
        </p:nvSpPr>
        <p:spPr>
          <a:xfrm>
            <a:off x="8251546" y="4096512"/>
            <a:ext cx="1345997" cy="526694"/>
          </a:xfrm>
          <a:prstGeom prst="roundRect">
            <a:avLst>
              <a:gd name="adj" fmla="val 8000"/>
            </a:avLst>
          </a:prstGeom>
          <a:solidFill>
            <a:srgbClr val="D5E8D4"/>
          </a:solidFill>
          <a:ln w="11704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>
                <a:solidFill>
                  <a:srgbClr val="000000"/>
                </a:solidFill>
                <a:latin typeface="Arial"/>
              </a:rPr>
              <a:t>Six semantic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>
                <a:solidFill>
                  <a:srgbClr val="000000"/>
                </a:solidFill>
                <a:latin typeface="Arial"/>
              </a:rPr>
              <a:t>text-band tokens</a:t>
            </a:r>
          </a:p>
        </p:txBody>
      </p:sp>
      <p:sp>
        <p:nvSpPr>
          <p:cNvPr id="67" name="drawio-node-54"/>
          <p:cNvSpPr/>
          <p:nvPr/>
        </p:nvSpPr>
        <p:spPr>
          <a:xfrm>
            <a:off x="11060582" y="4037990"/>
            <a:ext cx="1872691" cy="643738"/>
          </a:xfrm>
          <a:prstGeom prst="roundRect">
            <a:avLst>
              <a:gd name="adj" fmla="val 8000"/>
            </a:avLst>
          </a:prstGeom>
          <a:solidFill>
            <a:srgbClr val="F8CECC"/>
          </a:solidFill>
          <a:ln w="17556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>
                <a:solidFill>
                  <a:srgbClr val="000000"/>
                </a:solidFill>
                <a:latin typeface="Arial"/>
              </a:rPr>
              <a:t>Frozen base score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7" b="1">
                <a:solidFill>
                  <a:srgbClr val="000000"/>
                </a:solidFill>
                <a:latin typeface="Arial"/>
              </a:rPr>
              <a:t>+ bounded mean band cosine</a:t>
            </a:r>
          </a:p>
        </p:txBody>
      </p:sp>
      <p:sp>
        <p:nvSpPr>
          <p:cNvPr id="68" name="drawio-node-60"/>
          <p:cNvSpPr/>
          <p:nvPr/>
        </p:nvSpPr>
        <p:spPr>
          <a:xfrm>
            <a:off x="409651" y="5149901"/>
            <a:ext cx="877824" cy="175565"/>
          </a:xfrm>
          <a:prstGeom prst="roundRect">
            <a:avLst>
              <a:gd name="adj" fmla="val 8000"/>
            </a:avLst>
          </a:prstGeom>
          <a:solidFill>
            <a:srgbClr val="D5E8D4"/>
          </a:solidFill>
          <a:ln w="5852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>
                <a:solidFill>
                  <a:srgbClr val="000000"/>
                </a:solidFill>
                <a:latin typeface="Arial"/>
              </a:rPr>
              <a:t>Input / output</a:t>
            </a:r>
          </a:p>
        </p:txBody>
      </p:sp>
      <p:sp>
        <p:nvSpPr>
          <p:cNvPr id="69" name="drawio-node-61"/>
          <p:cNvSpPr/>
          <p:nvPr/>
        </p:nvSpPr>
        <p:spPr>
          <a:xfrm>
            <a:off x="1404518" y="5149901"/>
            <a:ext cx="877824" cy="175565"/>
          </a:xfrm>
          <a:prstGeom prst="roundRect">
            <a:avLst>
              <a:gd name="adj" fmla="val 8000"/>
            </a:avLst>
          </a:prstGeom>
          <a:solidFill>
            <a:srgbClr val="DAE8FC"/>
          </a:solidFill>
          <a:ln w="5852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>
                <a:solidFill>
                  <a:srgbClr val="000000"/>
                </a:solidFill>
                <a:latin typeface="Arial"/>
              </a:rPr>
              <a:t>Signal / relation</a:t>
            </a:r>
          </a:p>
        </p:txBody>
      </p:sp>
      <p:sp>
        <p:nvSpPr>
          <p:cNvPr id="70" name="drawio-node-62"/>
          <p:cNvSpPr/>
          <p:nvPr/>
        </p:nvSpPr>
        <p:spPr>
          <a:xfrm>
            <a:off x="2399386" y="5149901"/>
            <a:ext cx="994867" cy="175565"/>
          </a:xfrm>
          <a:prstGeom prst="roundRect">
            <a:avLst>
              <a:gd name="adj" fmla="val 8000"/>
            </a:avLst>
          </a:prstGeom>
          <a:solidFill>
            <a:srgbClr val="E1D5E7"/>
          </a:solidFill>
          <a:ln w="5852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>
                <a:solidFill>
                  <a:srgbClr val="000000"/>
                </a:solidFill>
                <a:latin typeface="Arial"/>
              </a:rPr>
              <a:t>Attention / topology</a:t>
            </a:r>
          </a:p>
        </p:txBody>
      </p:sp>
      <p:sp>
        <p:nvSpPr>
          <p:cNvPr id="71" name="drawio-node-63"/>
          <p:cNvSpPr/>
          <p:nvPr/>
        </p:nvSpPr>
        <p:spPr>
          <a:xfrm>
            <a:off x="3511296" y="5149901"/>
            <a:ext cx="1053389" cy="175565"/>
          </a:xfrm>
          <a:prstGeom prst="roundRect">
            <a:avLst>
              <a:gd name="adj" fmla="val 8000"/>
            </a:avLst>
          </a:prstGeom>
          <a:solidFill>
            <a:srgbClr val="FFE6CC"/>
          </a:solidFill>
          <a:ln w="5852">
            <a:solidFill>
              <a:srgbClr val="D79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>
                <a:solidFill>
                  <a:srgbClr val="000000"/>
                </a:solidFill>
                <a:latin typeface="Arial"/>
              </a:rPr>
              <a:t>Projection / reduction</a:t>
            </a:r>
          </a:p>
        </p:txBody>
      </p:sp>
      <p:sp>
        <p:nvSpPr>
          <p:cNvPr id="72" name="drawio-node-64"/>
          <p:cNvSpPr/>
          <p:nvPr/>
        </p:nvSpPr>
        <p:spPr>
          <a:xfrm>
            <a:off x="4681728" y="5149901"/>
            <a:ext cx="819302" cy="175565"/>
          </a:xfrm>
          <a:prstGeom prst="roundRect">
            <a:avLst>
              <a:gd name="adj" fmla="val 8000"/>
            </a:avLst>
          </a:prstGeom>
          <a:solidFill>
            <a:srgbClr val="F8CECC"/>
          </a:solidFill>
          <a:ln w="5852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>
                <a:solidFill>
                  <a:srgbClr val="000000"/>
                </a:solidFill>
                <a:latin typeface="Arial"/>
              </a:rPr>
              <a:t>Gate / score</a:t>
            </a:r>
          </a:p>
        </p:txBody>
      </p:sp>
      <p:sp>
        <p:nvSpPr>
          <p:cNvPr id="73" name="drawio-node-65"/>
          <p:cNvSpPr/>
          <p:nvPr/>
        </p:nvSpPr>
        <p:spPr>
          <a:xfrm>
            <a:off x="2048256" y="2223821"/>
            <a:ext cx="2926080" cy="585216"/>
          </a:xfrm>
          <a:prstGeom prst="roundRect">
            <a:avLst>
              <a:gd name="adj" fmla="val 8000"/>
            </a:avLst>
          </a:prstGeom>
          <a:solidFill>
            <a:srgbClr val="E1D5E7"/>
          </a:solidFill>
          <a:ln w="11704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56" rIns="17556" tIns="5852" bIns="58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1">
                <a:solidFill>
                  <a:srgbClr val="000000"/>
                </a:solidFill>
                <a:latin typeface="Arial"/>
              </a:rPr>
              <a:t>Qualified B0 / B1 / B2 base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1">
                <a:solidFill>
                  <a:srgbClr val="000000"/>
                </a:solidFill>
                <a:latin typeface="Arial"/>
              </a:rPr>
              <a:t>shared actor encoding + group pooling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1" b="1">
                <a:solidFill>
                  <a:srgbClr val="000000"/>
                </a:solidFill>
                <a:latin typeface="Arial"/>
              </a:rPr>
              <a:t>frozen per seed for residual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PhaseSet native figure renderer</Application>
  <PresentationFormat>Custom</PresentationFormat>
  <Slides>1</Slides>
  <Notes>0</Notes>
  <HiddenSlides>0</HiddenSlides>
  <MMClips>0</MMClips>
  <ScaleCrop>false</ScaleCrop>
  <Manager/>
  <Company/>
  <LinksUpToDate>false</LinksUpToDate>
  <SharedDoc>false</SharedDoc>
  <HyperlinkBase/>
  <HyperlinksChanged>false</HyperlinksChanged>
  <AppVersion>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phaseset_architecture</dc:title>
  <dc:subject>Data-free methods figure; native editable objects</dc:subject>
  <dc:creator>PhaseSet contributors</dc:creator>
  <cp:keywords/>
  <dc:description>Source SHA256: 1a61a503c935a72cbfbe1ce175ab54bf975eb3e0a2164018aeda80448f472a1a</dc:description>
  <cp:lastModifiedBy>PhaseSet figure renderer</cp:lastModifiedBy>
  <cp:revision>1</cp:revision>
  <dcterms:created xsi:type="dcterms:W3CDTF">2000-01-01T00:00:00Z</dcterms:created>
  <dcterms:modified xsi:type="dcterms:W3CDTF">2000-01-01T00:00:00Z</dcterms:modified>
  <cp:category/>
</cp:coreProperties>
</file>