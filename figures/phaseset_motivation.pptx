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6949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-node-3"/>
          <p:cNvSpPr/>
          <p:nvPr/>
        </p:nvSpPr>
        <p:spPr>
          <a:xfrm>
            <a:off x="548640" y="731520"/>
            <a:ext cx="6400800" cy="4389120"/>
          </a:xfrm>
          <a:prstGeom prst="roundRect">
            <a:avLst>
              <a:gd name="adj" fmla="val 8000"/>
            </a:avLst>
          </a:prstGeom>
          <a:solidFill>
            <a:srgbClr val="F8FAFD"/>
          </a:solidFill>
          <a:ln w="18288">
            <a:solidFill>
              <a:srgbClr val="779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-header-3"/>
          <p:cNvSpPr txBox="1"/>
          <p:nvPr/>
        </p:nvSpPr>
        <p:spPr>
          <a:xfrm>
            <a:off x="548640" y="731520"/>
            <a:ext cx="6400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00000"/>
                </a:solidFill>
                <a:latin typeface="Arial"/>
              </a:rPr>
              <a:t>Group A: balanced incidence</a:t>
            </a:r>
          </a:p>
        </p:txBody>
      </p:sp>
      <p:cxnSp>
        <p:nvCxnSpPr>
          <p:cNvPr id="4" name="drawio-container-separator-3"/>
          <p:cNvCxnSpPr/>
          <p:nvPr/>
        </p:nvCxnSpPr>
        <p:spPr>
          <a:xfrm>
            <a:off x="548640" y="1115568"/>
            <a:ext cx="6400800" cy="0"/>
          </a:xfrm>
          <a:prstGeom prst="line">
            <a:avLst/>
          </a:prstGeom>
          <a:ln w="18288">
            <a:solidFill>
              <a:srgbClr val="77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rawio-node-4"/>
          <p:cNvSpPr/>
          <p:nvPr/>
        </p:nvSpPr>
        <p:spPr>
          <a:xfrm>
            <a:off x="7680960" y="731520"/>
            <a:ext cx="6400800" cy="4389120"/>
          </a:xfrm>
          <a:prstGeom prst="roundRect">
            <a:avLst>
              <a:gd name="adj" fmla="val 8000"/>
            </a:avLst>
          </a:prstGeom>
          <a:solidFill>
            <a:srgbClr val="F8FAFD"/>
          </a:solidFill>
          <a:ln w="18288">
            <a:solidFill>
              <a:srgbClr val="779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rawio-header-4"/>
          <p:cNvSpPr txBox="1"/>
          <p:nvPr/>
        </p:nvSpPr>
        <p:spPr>
          <a:xfrm>
            <a:off x="7680960" y="731520"/>
            <a:ext cx="6400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00000"/>
                </a:solidFill>
                <a:latin typeface="Arial"/>
              </a:rPr>
              <a:t>Group B: concentrated incidence</a:t>
            </a:r>
          </a:p>
        </p:txBody>
      </p:sp>
      <p:cxnSp>
        <p:nvCxnSpPr>
          <p:cNvPr id="7" name="drawio-container-separator-4"/>
          <p:cNvCxnSpPr/>
          <p:nvPr/>
        </p:nvCxnSpPr>
        <p:spPr>
          <a:xfrm>
            <a:off x="7680960" y="1115568"/>
            <a:ext cx="6400800" cy="0"/>
          </a:xfrm>
          <a:prstGeom prst="line">
            <a:avLst/>
          </a:prstGeom>
          <a:ln w="18288">
            <a:solidFill>
              <a:srgbClr val="7792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drawio-edge-10-segment-0"/>
          <p:cNvCxnSpPr/>
          <p:nvPr/>
        </p:nvCxnSpPr>
        <p:spPr>
          <a:xfrm>
            <a:off x="2468880" y="1828800"/>
            <a:ext cx="2560320" cy="0"/>
          </a:xfrm>
          <a:prstGeom prst="line">
            <a:avLst/>
          </a:prstGeom>
          <a:ln w="36576">
            <a:solidFill>
              <a:srgbClr val="D9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drawio-edge-11-segment-0"/>
          <p:cNvCxnSpPr/>
          <p:nvPr/>
        </p:nvCxnSpPr>
        <p:spPr>
          <a:xfrm>
            <a:off x="2103120" y="2194560"/>
            <a:ext cx="0" cy="1097280"/>
          </a:xfrm>
          <a:prstGeom prst="line">
            <a:avLst/>
          </a:prstGeom>
          <a:ln w="36576">
            <a:solidFill>
              <a:srgbClr val="4D8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drawio-edge-12-segment-0"/>
          <p:cNvCxnSpPr/>
          <p:nvPr/>
        </p:nvCxnSpPr>
        <p:spPr>
          <a:xfrm>
            <a:off x="2422852" y="2006429"/>
            <a:ext cx="2652376" cy="1473542"/>
          </a:xfrm>
          <a:prstGeom prst="line">
            <a:avLst/>
          </a:prstGeom>
          <a:ln w="36576">
            <a:solidFill>
              <a:srgbClr val="7A7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drawio-edge-13-segment-0"/>
          <p:cNvCxnSpPr/>
          <p:nvPr/>
        </p:nvCxnSpPr>
        <p:spPr>
          <a:xfrm flipH="1">
            <a:off x="2422852" y="2006429"/>
            <a:ext cx="2652376" cy="1473542"/>
          </a:xfrm>
          <a:prstGeom prst="line">
            <a:avLst/>
          </a:prstGeom>
          <a:ln w="36576">
            <a:solidFill>
              <a:srgbClr val="7A7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drawio-edge-14-segment-0"/>
          <p:cNvCxnSpPr/>
          <p:nvPr/>
        </p:nvCxnSpPr>
        <p:spPr>
          <a:xfrm>
            <a:off x="5394960" y="2194560"/>
            <a:ext cx="0" cy="1097280"/>
          </a:xfrm>
          <a:prstGeom prst="line">
            <a:avLst/>
          </a:prstGeom>
          <a:ln w="36576">
            <a:solidFill>
              <a:srgbClr val="4D8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drawio-edge-15-segment-0"/>
          <p:cNvCxnSpPr/>
          <p:nvPr/>
        </p:nvCxnSpPr>
        <p:spPr>
          <a:xfrm>
            <a:off x="2468880" y="3657600"/>
            <a:ext cx="2560320" cy="0"/>
          </a:xfrm>
          <a:prstGeom prst="line">
            <a:avLst/>
          </a:prstGeom>
          <a:ln w="36576">
            <a:solidFill>
              <a:srgbClr val="D9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rawio-edge-30-segment-0"/>
          <p:cNvCxnSpPr/>
          <p:nvPr/>
        </p:nvCxnSpPr>
        <p:spPr>
          <a:xfrm>
            <a:off x="9601200" y="1828800"/>
            <a:ext cx="2560320" cy="0"/>
          </a:xfrm>
          <a:prstGeom prst="line">
            <a:avLst/>
          </a:prstGeom>
          <a:ln w="36576">
            <a:solidFill>
              <a:srgbClr val="D9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rawio-edge-31-segment-0"/>
          <p:cNvCxnSpPr/>
          <p:nvPr/>
        </p:nvCxnSpPr>
        <p:spPr>
          <a:xfrm>
            <a:off x="9235440" y="2194560"/>
            <a:ext cx="0" cy="1097280"/>
          </a:xfrm>
          <a:prstGeom prst="line">
            <a:avLst/>
          </a:prstGeom>
          <a:ln w="36576">
            <a:solidFill>
              <a:srgbClr val="D9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rawio-edge-32-segment-0"/>
          <p:cNvCxnSpPr/>
          <p:nvPr/>
        </p:nvCxnSpPr>
        <p:spPr>
          <a:xfrm>
            <a:off x="9555172" y="2006429"/>
            <a:ext cx="2652376" cy="1473542"/>
          </a:xfrm>
          <a:prstGeom prst="line">
            <a:avLst/>
          </a:prstGeom>
          <a:ln w="36576">
            <a:solidFill>
              <a:srgbClr val="4D8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rawio-edge-33-segment-0"/>
          <p:cNvCxnSpPr/>
          <p:nvPr/>
        </p:nvCxnSpPr>
        <p:spPr>
          <a:xfrm flipH="1">
            <a:off x="9555172" y="2006429"/>
            <a:ext cx="2652376" cy="1473542"/>
          </a:xfrm>
          <a:prstGeom prst="line">
            <a:avLst/>
          </a:prstGeom>
          <a:ln w="36576">
            <a:solidFill>
              <a:srgbClr val="4D8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rawio-edge-34-segment-0"/>
          <p:cNvCxnSpPr/>
          <p:nvPr/>
        </p:nvCxnSpPr>
        <p:spPr>
          <a:xfrm>
            <a:off x="12527280" y="2194560"/>
            <a:ext cx="0" cy="1097280"/>
          </a:xfrm>
          <a:prstGeom prst="line">
            <a:avLst/>
          </a:prstGeom>
          <a:ln w="36576">
            <a:solidFill>
              <a:srgbClr val="7A7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rawio-edge-35-segment-0"/>
          <p:cNvCxnSpPr/>
          <p:nvPr/>
        </p:nvCxnSpPr>
        <p:spPr>
          <a:xfrm>
            <a:off x="9601200" y="3657600"/>
            <a:ext cx="2560320" cy="0"/>
          </a:xfrm>
          <a:prstGeom prst="line">
            <a:avLst/>
          </a:prstGeom>
          <a:ln w="36576">
            <a:solidFill>
              <a:srgbClr val="7A7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rawio-edge-53-segment-0"/>
          <p:cNvCxnSpPr/>
          <p:nvPr/>
        </p:nvCxnSpPr>
        <p:spPr>
          <a:xfrm>
            <a:off x="6766560" y="5715000"/>
            <a:ext cx="457200" cy="0"/>
          </a:xfrm>
          <a:prstGeom prst="line">
            <a:avLst/>
          </a:prstGeom>
          <a:ln w="18288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rawio-edge-54-segment-0"/>
          <p:cNvCxnSpPr/>
          <p:nvPr/>
        </p:nvCxnSpPr>
        <p:spPr>
          <a:xfrm>
            <a:off x="6172200" y="6309360"/>
            <a:ext cx="228600" cy="274320"/>
          </a:xfrm>
          <a:prstGeom prst="line">
            <a:avLst/>
          </a:prstGeom>
          <a:ln w="18288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rawio-edge-54-segment-1"/>
          <p:cNvCxnSpPr/>
          <p:nvPr/>
        </p:nvCxnSpPr>
        <p:spPr>
          <a:xfrm>
            <a:off x="6400800" y="6583680"/>
            <a:ext cx="3291840" cy="0"/>
          </a:xfrm>
          <a:prstGeom prst="line">
            <a:avLst/>
          </a:prstGeom>
          <a:ln w="18288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rawio-edge-54-segment-2"/>
          <p:cNvCxnSpPr/>
          <p:nvPr/>
        </p:nvCxnSpPr>
        <p:spPr>
          <a:xfrm flipV="1">
            <a:off x="9692640" y="6080760"/>
            <a:ext cx="274320" cy="502920"/>
          </a:xfrm>
          <a:prstGeom prst="line">
            <a:avLst/>
          </a:prstGeom>
          <a:ln w="18288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rawio-node-2"/>
          <p:cNvSpPr txBox="1"/>
          <p:nvPr/>
        </p:nvSpPr>
        <p:spPr>
          <a:xfrm>
            <a:off x="2743200" y="182880"/>
            <a:ext cx="914400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17233C"/>
                </a:solidFill>
                <a:latin typeface="Arial"/>
              </a:rPr>
              <a:t>Why pair-bagging is not enough</a:t>
            </a:r>
          </a:p>
        </p:txBody>
      </p:sp>
      <p:sp>
        <p:nvSpPr>
          <p:cNvPr id="25" name="drawio-node-20"/>
          <p:cNvSpPr/>
          <p:nvPr/>
        </p:nvSpPr>
        <p:spPr>
          <a:xfrm>
            <a:off x="1737360" y="14630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6" name="drawio-node-21"/>
          <p:cNvSpPr/>
          <p:nvPr/>
        </p:nvSpPr>
        <p:spPr>
          <a:xfrm>
            <a:off x="5029200" y="14630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7" name="drawio-node-22"/>
          <p:cNvSpPr/>
          <p:nvPr/>
        </p:nvSpPr>
        <p:spPr>
          <a:xfrm>
            <a:off x="1737360" y="32918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8" name="drawio-node-23"/>
          <p:cNvSpPr/>
          <p:nvPr/>
        </p:nvSpPr>
        <p:spPr>
          <a:xfrm>
            <a:off x="5029200" y="32918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9" name="drawio-node-24"/>
          <p:cNvSpPr/>
          <p:nvPr/>
        </p:nvSpPr>
        <p:spPr>
          <a:xfrm>
            <a:off x="1737360" y="429768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E9F2FC"/>
          </a:solidFill>
          <a:ln w="9144">
            <a:solidFill>
              <a:srgbClr val="6C8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>
                <a:solidFill>
                  <a:srgbClr val="000000"/>
                </a:solidFill>
                <a:latin typeface="Arial"/>
              </a:rPr>
              <a:t>Every actor: 1 red + 1 blue + 1 gray incident relation</a:t>
            </a:r>
          </a:p>
        </p:txBody>
      </p:sp>
      <p:sp>
        <p:nvSpPr>
          <p:cNvPr id="30" name="drawio-node-40"/>
          <p:cNvSpPr/>
          <p:nvPr/>
        </p:nvSpPr>
        <p:spPr>
          <a:xfrm>
            <a:off x="8869680" y="14630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1" name="drawio-node-41"/>
          <p:cNvSpPr/>
          <p:nvPr/>
        </p:nvSpPr>
        <p:spPr>
          <a:xfrm>
            <a:off x="12161520" y="14630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2" name="drawio-node-42"/>
          <p:cNvSpPr/>
          <p:nvPr/>
        </p:nvSpPr>
        <p:spPr>
          <a:xfrm>
            <a:off x="8869680" y="32918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3" name="drawio-node-43"/>
          <p:cNvSpPr/>
          <p:nvPr/>
        </p:nvSpPr>
        <p:spPr>
          <a:xfrm>
            <a:off x="12161520" y="3291840"/>
            <a:ext cx="731520" cy="731520"/>
          </a:xfrm>
          <a:prstGeom prst="ellipse">
            <a:avLst/>
          </a:prstGeom>
          <a:solidFill>
            <a:srgbClr val="D5E8D4"/>
          </a:solidFill>
          <a:ln w="18288">
            <a:solidFill>
              <a:srgbClr val="6D9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>
                <a:solidFill>
                  <a:srgbClr val="000000"/>
                </a:solidFill>
                <a:latin typeface="Arial"/>
              </a:rPr>
              <a:t>m</a:t>
            </a:r>
            <a:r>
              <a:rPr sz="864" b="1" baseline="-2500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4" name="drawio-node-44"/>
          <p:cNvSpPr/>
          <p:nvPr/>
        </p:nvSpPr>
        <p:spPr>
          <a:xfrm>
            <a:off x="8869680" y="4297680"/>
            <a:ext cx="4023360" cy="457200"/>
          </a:xfrm>
          <a:prstGeom prst="roundRect">
            <a:avLst>
              <a:gd name="adj" fmla="val 8000"/>
            </a:avLst>
          </a:prstGeom>
          <a:solidFill>
            <a:srgbClr val="FCE8E8"/>
          </a:solidFill>
          <a:ln w="9144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>
                <a:solidFill>
                  <a:srgbClr val="000000"/>
                </a:solidFill>
                <a:latin typeface="Arial"/>
              </a:rPr>
              <a:t>A: 2 red; D: 2 gray; B/C: mixed incident relations</a:t>
            </a:r>
          </a:p>
        </p:txBody>
      </p:sp>
      <p:sp>
        <p:nvSpPr>
          <p:cNvPr id="35" name="drawio-node-50"/>
          <p:cNvSpPr/>
          <p:nvPr/>
        </p:nvSpPr>
        <p:spPr>
          <a:xfrm>
            <a:off x="822960" y="539496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8288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000000"/>
                </a:solidFill>
                <a:latin typeface="Arial"/>
              </a:rPr>
              <a:t>Identical actor marginals: {m</a:t>
            </a:r>
            <a:r>
              <a:rPr sz="864" b="0" baseline="-25000">
                <a:solidFill>
                  <a:srgbClr val="000000"/>
                </a:solidFill>
                <a:latin typeface="Arial"/>
              </a:rPr>
              <a:t>1</a:t>
            </a:r>
            <a:r>
              <a:rPr sz="1152" b="0">
                <a:solidFill>
                  <a:srgbClr val="000000"/>
                </a:solidFill>
                <a:latin typeface="Arial"/>
              </a:rPr>
              <a:t>,m</a:t>
            </a:r>
            <a:r>
              <a:rPr sz="864" b="0" baseline="-25000">
                <a:solidFill>
                  <a:srgbClr val="000000"/>
                </a:solidFill>
                <a:latin typeface="Arial"/>
              </a:rPr>
              <a:t>2</a:t>
            </a:r>
            <a:r>
              <a:rPr sz="1152" b="0">
                <a:solidFill>
                  <a:srgbClr val="000000"/>
                </a:solidFill>
                <a:latin typeface="Arial"/>
              </a:rPr>
              <a:t>,m</a:t>
            </a:r>
            <a:r>
              <a:rPr sz="864" b="0" baseline="-25000">
                <a:solidFill>
                  <a:srgbClr val="000000"/>
                </a:solidFill>
                <a:latin typeface="Arial"/>
              </a:rPr>
              <a:t>3</a:t>
            </a:r>
            <a:r>
              <a:rPr sz="1152" b="0">
                <a:solidFill>
                  <a:srgbClr val="000000"/>
                </a:solidFill>
                <a:latin typeface="Arial"/>
              </a:rPr>
              <a:t>,m</a:t>
            </a:r>
            <a:r>
              <a:rPr sz="864" b="0" baseline="-25000">
                <a:solidFill>
                  <a:srgbClr val="000000"/>
                </a:solidFill>
                <a:latin typeface="Arial"/>
              </a:rPr>
              <a:t>4</a:t>
            </a:r>
            <a:r>
              <a:rPr sz="1152" b="0">
                <a:solidFill>
                  <a:srgbClr val="000000"/>
                </a:solidFill>
                <a:latin typeface="Arial"/>
              </a:rPr>
              <a:t>}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0">
                <a:solidFill>
                  <a:srgbClr val="000000"/>
                </a:solidFill>
                <a:latin typeface="Arial"/>
              </a:rPr>
              <a:t>Identical pair-token multiset: {red×2, blue×2, gray×2}</a:t>
            </a:r>
          </a:p>
        </p:txBody>
      </p:sp>
      <p:sp>
        <p:nvSpPr>
          <p:cNvPr id="36" name="drawio-node-51"/>
          <p:cNvSpPr/>
          <p:nvPr/>
        </p:nvSpPr>
        <p:spPr>
          <a:xfrm>
            <a:off x="7223760" y="5394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8CECC"/>
          </a:solidFill>
          <a:ln w="18288">
            <a:solidFill>
              <a:srgbClr val="B85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00000"/>
                </a:solidFill>
                <a:latin typeface="Arial"/>
              </a:rPr>
              <a:t>Pair-bag mean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00000"/>
                </a:solidFill>
                <a:latin typeface="Arial"/>
              </a:rPr>
              <a:t>identical</a:t>
            </a:r>
          </a:p>
        </p:txBody>
      </p:sp>
      <p:sp>
        <p:nvSpPr>
          <p:cNvPr id="37" name="drawio-node-52"/>
          <p:cNvSpPr/>
          <p:nvPr/>
        </p:nvSpPr>
        <p:spPr>
          <a:xfrm>
            <a:off x="9966960" y="53949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D5E8D4"/>
          </a:solidFill>
          <a:ln w="18288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00000"/>
                </a:solidFill>
                <a:latin typeface="Arial"/>
              </a:rPr>
              <a:t>PhaseSet incidence moments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000000"/>
                </a:solidFill>
                <a:latin typeface="Arial"/>
              </a:rPr>
              <a:t>distinguishable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PhaseSet native figure renderer</Application>
  <PresentationFormat>Custom</PresentationFormat>
  <Slides>1</Slides>
  <Notes>0</Notes>
  <HiddenSlides>0</HiddenSlides>
  <MMClips>0</MMClips>
  <ScaleCrop>false</ScaleCrop>
  <Manager/>
  <Company/>
  <LinksUpToDate>false</LinksUpToDate>
  <SharedDoc>false</SharedDoc>
  <HyperlinkBase/>
  <HyperlinksChanged>false</HyperlinksChanged>
  <AppVersion>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phaseset_motivation</dc:title>
  <dc:subject>Data-free methods figure; native editable objects</dc:subject>
  <dc:creator>PhaseSet contributors</dc:creator>
  <cp:keywords/>
  <dc:description>Source SHA256: a0a25fbc8c55575d50c6ffa8d6add01ce780cc8842328bb3f6bba20c6509d18a</dc:description>
  <cp:lastModifiedBy>PhaseSet figure renderer</cp:lastModifiedBy>
  <cp:revision>1</cp:revision>
  <dcterms:created xsi:type="dcterms:W3CDTF">2000-01-01T00:00:00Z</dcterms:created>
  <dcterms:modified xsi:type="dcterms:W3CDTF">2000-01-01T00:00:00Z</dcterms:modified>
  <cp:category/>
</cp:coreProperties>
</file>